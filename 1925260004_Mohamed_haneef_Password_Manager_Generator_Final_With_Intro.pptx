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66" r:id="rId2"/>
    <p:sldId id="267" r:id="rId3"/>
    <p:sldId id="256" r:id="rId4"/>
    <p:sldId id="257" r:id="rId5"/>
    <p:sldId id="270" r:id="rId6"/>
    <p:sldId id="258" r:id="rId7"/>
    <p:sldId id="259" r:id="rId8"/>
    <p:sldId id="271" r:id="rId9"/>
    <p:sldId id="260" r:id="rId10"/>
    <p:sldId id="261" r:id="rId11"/>
    <p:sldId id="272" r:id="rId12"/>
    <p:sldId id="262" r:id="rId13"/>
    <p:sldId id="263" r:id="rId14"/>
    <p:sldId id="273" r:id="rId15"/>
    <p:sldId id="264" r:id="rId16"/>
    <p:sldId id="265" r:id="rId17"/>
    <p:sldId id="268" r:id="rId18"/>
    <p:sldId id="269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401EC2-34FC-4301-BEC6-C220C221341A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0C79ED-00B8-47E9-BD3C-099FC84FF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7678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534400" y="0"/>
            <a:ext cx="3657600" cy="6858000"/>
          </a:xfrm>
          <a:prstGeom prst="rect">
            <a:avLst/>
          </a:prstGeom>
          <a:solidFill>
            <a:srgbClr val="0F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534400" y="0"/>
            <a:ext cx="73152" cy="6858000"/>
          </a:xfrm>
          <a:prstGeom prst="rect">
            <a:avLst/>
          </a:prstGeom>
          <a:solidFill>
            <a:srgbClr val="2CC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20200" y="6510655"/>
            <a:ext cx="5943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 dirty="0">
                <a:solidFill>
                  <a:srgbClr val="2CCDE0"/>
                </a:solidFill>
                <a:latin typeface="Aptos"/>
              </a:rPr>
              <a:t>PYTHON • CYBERSECURITY •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425702"/>
            <a:ext cx="658368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200" b="1" dirty="0">
                <a:solidFill>
                  <a:srgbClr val="F7FAFC"/>
                </a:solidFill>
                <a:latin typeface="Aptos"/>
              </a:rPr>
              <a:t>PASSWORD MANAGER
&amp; GENERATOR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78608"/>
            <a:ext cx="6126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2CCDE0"/>
                </a:solidFill>
                <a:latin typeface="Aptos"/>
              </a:rPr>
              <a:t>Secure • Smart • Simple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136392"/>
            <a:ext cx="630936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 dirty="0">
                <a:solidFill>
                  <a:srgbClr val="B1C2D3"/>
                </a:solidFill>
                <a:latin typeface="Aptos"/>
              </a:rPr>
              <a:t>A Python-based password management system
for generating and securely managing credentials.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315968"/>
            <a:ext cx="1828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2CCDE0"/>
                </a:solidFill>
                <a:latin typeface="Aptos"/>
              </a:rPr>
              <a:t>PRESENTED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8320" y="4711904"/>
            <a:ext cx="7223760" cy="11695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dirty="0">
                <a:solidFill>
                  <a:srgbClr val="F7FAFC"/>
                </a:solidFill>
                <a:latin typeface="Aptos"/>
              </a:rPr>
              <a:t>Abubakar Siddiq</a:t>
            </a:r>
            <a:r>
              <a:rPr lang="en-IN" sz="1400" b="1" dirty="0">
                <a:solidFill>
                  <a:srgbClr val="F7FAFC"/>
                </a:solidFill>
                <a:latin typeface="Aptos"/>
              </a:rPr>
              <a:t>  </a:t>
            </a:r>
            <a:r>
              <a:rPr sz="1400" b="1" dirty="0">
                <a:solidFill>
                  <a:srgbClr val="F7FAFC"/>
                </a:solidFill>
                <a:latin typeface="Aptos"/>
              </a:rPr>
              <a:t>  </a:t>
            </a:r>
            <a:r>
              <a:rPr lang="en-IN" sz="1400" b="1" dirty="0">
                <a:solidFill>
                  <a:srgbClr val="F7FAFC"/>
                </a:solidFill>
                <a:latin typeface="Aptos"/>
              </a:rPr>
              <a:t>      1924260012</a:t>
            </a:r>
          </a:p>
          <a:p>
            <a:pPr algn="l"/>
            <a:r>
              <a:rPr sz="1400" b="1" dirty="0" err="1">
                <a:solidFill>
                  <a:srgbClr val="F7FAFC"/>
                </a:solidFill>
                <a:latin typeface="Aptos"/>
              </a:rPr>
              <a:t>Kavin</a:t>
            </a:r>
            <a:r>
              <a:rPr sz="1400" b="1" dirty="0">
                <a:solidFill>
                  <a:srgbClr val="F7FAFC"/>
                </a:solidFill>
                <a:latin typeface="Aptos"/>
              </a:rPr>
              <a:t> Raj  </a:t>
            </a:r>
            <a:r>
              <a:rPr lang="en-IN" sz="1400" b="1" dirty="0">
                <a:solidFill>
                  <a:srgbClr val="F7FAFC"/>
                </a:solidFill>
                <a:latin typeface="Aptos"/>
              </a:rPr>
              <a:t>                        1965260048</a:t>
            </a:r>
          </a:p>
          <a:p>
            <a:pPr algn="l"/>
            <a:r>
              <a:rPr sz="1400" b="1" dirty="0">
                <a:solidFill>
                  <a:srgbClr val="F7FAFC"/>
                </a:solidFill>
                <a:latin typeface="Aptos"/>
              </a:rPr>
              <a:t>Immanuel</a:t>
            </a:r>
            <a:r>
              <a:rPr lang="en-IN" sz="1400" b="1" dirty="0">
                <a:solidFill>
                  <a:srgbClr val="F7FAFC"/>
                </a:solidFill>
                <a:latin typeface="Aptos"/>
              </a:rPr>
              <a:t>                        1972260002</a:t>
            </a:r>
          </a:p>
          <a:p>
            <a:pPr algn="l"/>
            <a:r>
              <a:rPr sz="1400" b="1" dirty="0" err="1">
                <a:solidFill>
                  <a:srgbClr val="F7FAFC"/>
                </a:solidFill>
                <a:latin typeface="Aptos"/>
              </a:rPr>
              <a:t>Jomin</a:t>
            </a:r>
            <a:r>
              <a:rPr sz="1400" b="1" dirty="0">
                <a:solidFill>
                  <a:srgbClr val="F7FAFC"/>
                </a:solidFill>
                <a:latin typeface="Aptos"/>
              </a:rPr>
              <a:t> </a:t>
            </a:r>
            <a:r>
              <a:rPr lang="en-IN" sz="1400" b="1" dirty="0">
                <a:solidFill>
                  <a:srgbClr val="F7FAFC"/>
                </a:solidFill>
                <a:latin typeface="Aptos"/>
              </a:rPr>
              <a:t>                                1924260080</a:t>
            </a:r>
          </a:p>
          <a:p>
            <a:pPr algn="l"/>
            <a:r>
              <a:rPr sz="1400" b="1" dirty="0">
                <a:solidFill>
                  <a:srgbClr val="F7FAFC"/>
                </a:solidFill>
                <a:latin typeface="Aptos"/>
              </a:rPr>
              <a:t> Mohamed Haneef</a:t>
            </a:r>
            <a:r>
              <a:rPr lang="en-IN" sz="1400" b="1" dirty="0">
                <a:solidFill>
                  <a:srgbClr val="F7FAFC"/>
                </a:solidFill>
                <a:latin typeface="Aptos"/>
              </a:rPr>
              <a:t>      1925260004</a:t>
            </a:r>
            <a:endParaRPr sz="1400" b="1" dirty="0">
              <a:solidFill>
                <a:srgbClr val="F7FAFC"/>
              </a:solidFill>
              <a:latin typeface="Aptos"/>
            </a:endParaRPr>
          </a:p>
        </p:txBody>
      </p:sp>
      <p:sp>
        <p:nvSpPr>
          <p:cNvPr id="10" name="Arc 9"/>
          <p:cNvSpPr/>
          <p:nvPr/>
        </p:nvSpPr>
        <p:spPr>
          <a:xfrm>
            <a:off x="9692640" y="1783080"/>
            <a:ext cx="1706880" cy="1714500"/>
          </a:xfrm>
          <a:prstGeom prst="arc">
            <a:avLst/>
          </a:prstGeom>
          <a:noFill/>
          <a:ln w="114300">
            <a:solidFill>
              <a:srgbClr val="2CC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570720" y="3017520"/>
            <a:ext cx="1950720" cy="1303020"/>
          </a:xfrm>
          <a:prstGeom prst="roundRect">
            <a:avLst/>
          </a:prstGeom>
          <a:solidFill>
            <a:srgbClr val="2CC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363200" y="3360420"/>
            <a:ext cx="304800" cy="240030"/>
          </a:xfrm>
          <a:prstGeom prst="ellipse">
            <a:avLst/>
          </a:prstGeom>
          <a:solidFill>
            <a:srgbClr val="07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460736" y="3566160"/>
            <a:ext cx="109727" cy="308610"/>
          </a:xfrm>
          <a:prstGeom prst="rect">
            <a:avLst/>
          </a:prstGeom>
          <a:solidFill>
            <a:srgbClr val="07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64120" y="1570507"/>
            <a:ext cx="3474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 dirty="0">
                <a:solidFill>
                  <a:srgbClr val="2CCDE0"/>
                </a:solidFill>
                <a:latin typeface="Aptos"/>
              </a:rPr>
              <a:t>CYBERSECURITY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18272" y="1954530"/>
            <a:ext cx="356616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 dirty="0">
                <a:solidFill>
                  <a:srgbClr val="F7FAFC"/>
                </a:solidFill>
                <a:latin typeface="Aptos"/>
              </a:rPr>
              <a:t>PROTECT
YOUR DIGITAL LIFE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7643" y="4466386"/>
            <a:ext cx="36576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 dirty="0">
                <a:solidFill>
                  <a:srgbClr val="B1C2D3"/>
                </a:solidFill>
                <a:latin typeface="Aptos"/>
              </a:rPr>
              <a:t>GENERATE  •  ENCRYPT  •  STORE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5715000"/>
            <a:ext cx="3657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CCDE0"/>
                </a:solidFill>
                <a:latin typeface="Aptos"/>
              </a:rPr>
              <a:t>Built with 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080760"/>
            <a:ext cx="5943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 dirty="0">
                <a:solidFill>
                  <a:srgbClr val="B1C2D3"/>
                </a:solidFill>
                <a:latin typeface="Aptos"/>
              </a:rPr>
              <a:t>Password Manager &amp; Generator using Python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2C4583E-9408-E835-ABBB-C5843407E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611" y="150090"/>
            <a:ext cx="853514" cy="111566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2744F8E-A9DB-861A-17B1-A5DD12117F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176" y="254843"/>
            <a:ext cx="3432345" cy="81693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0E67576-68E9-7B5B-F615-AFC472C01C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9537" y="822317"/>
            <a:ext cx="3310415" cy="37798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376A955-D175-43CB-B974-4FE487DF25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8481" y="334055"/>
            <a:ext cx="4227191" cy="9175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2CC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9326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CCDE0"/>
                </a:solidFill>
                <a:latin typeface="Aptos"/>
              </a:rPr>
              <a:t>02  ·  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932688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>
                <a:solidFill>
                  <a:schemeClr val="tx2"/>
                </a:solidFill>
                <a:latin typeface="Aptos"/>
              </a:rPr>
              <a:t>What Existing Approaches Tell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99032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1C2D3"/>
                </a:solidFill>
                <a:latin typeface="Aptos"/>
              </a:rPr>
              <a:t>Key security principles that guide our Password Manager &amp; Generator.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57400"/>
            <a:ext cx="4572000" cy="1417320"/>
          </a:xfrm>
          <a:prstGeom prst="roundRect">
            <a:avLst/>
          </a:prstGeom>
          <a:solidFill>
            <a:srgbClr val="0F1F35"/>
          </a:solidFill>
          <a:ln>
            <a:solidFill>
              <a:srgbClr val="28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221284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CCDE0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167128"/>
            <a:ext cx="3611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7FAFC"/>
                </a:solidFill>
                <a:latin typeface="Aptos"/>
              </a:rPr>
              <a:t>Password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542032"/>
            <a:ext cx="36118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B1C2D3"/>
                </a:solidFill>
                <a:latin typeface="Aptos"/>
              </a:rPr>
              <a:t>Strong, unique passwords are important for reducing risks associated with weak or reused credentials.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32120" y="2057400"/>
            <a:ext cx="4572000" cy="1417320"/>
          </a:xfrm>
          <a:prstGeom prst="roundRect">
            <a:avLst/>
          </a:prstGeom>
          <a:solidFill>
            <a:srgbClr val="0F1F35"/>
          </a:solidFill>
          <a:ln>
            <a:solidFill>
              <a:srgbClr val="28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33288" y="221284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CCDE0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167128"/>
            <a:ext cx="3611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7FAFC"/>
                </a:solidFill>
                <a:latin typeface="Aptos"/>
              </a:rPr>
              <a:t>Password Managers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542032"/>
            <a:ext cx="36118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B1C2D3"/>
                </a:solidFill>
                <a:latin typeface="Aptos"/>
              </a:rPr>
              <a:t>Centralized credential storage helps users manage multiple website and application passwords.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840480"/>
            <a:ext cx="4572000" cy="1417320"/>
          </a:xfrm>
          <a:prstGeom prst="roundRect">
            <a:avLst/>
          </a:prstGeom>
          <a:solidFill>
            <a:srgbClr val="0F1F35"/>
          </a:solidFill>
          <a:ln>
            <a:solidFill>
              <a:srgbClr val="28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5528" y="399592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CCDE0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950208"/>
            <a:ext cx="3611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7FAFC"/>
                </a:solidFill>
                <a:latin typeface="Aptos"/>
              </a:rPr>
              <a:t>Secure Generation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325112"/>
            <a:ext cx="36118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B1C2D3"/>
                </a:solidFill>
                <a:latin typeface="Aptos"/>
              </a:rPr>
              <a:t>The project uses Python's secrets module to generate unpredictable passwords from selectable character sets.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32120" y="3840480"/>
            <a:ext cx="4572000" cy="1417320"/>
          </a:xfrm>
          <a:prstGeom prst="roundRect">
            <a:avLst/>
          </a:prstGeom>
          <a:solidFill>
            <a:srgbClr val="0F1F35"/>
          </a:solidFill>
          <a:ln>
            <a:solidFill>
              <a:srgbClr val="28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33288" y="399592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CCDE0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950208"/>
            <a:ext cx="3611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7FAFC"/>
                </a:solidFill>
                <a:latin typeface="Aptos"/>
              </a:rPr>
              <a:t>Secure Storage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325112"/>
            <a:ext cx="36118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>
                <a:solidFill>
                  <a:srgbClr val="B1C2D3"/>
                </a:solidFill>
                <a:latin typeface="Aptos"/>
              </a:rPr>
              <a:t>The proposed design protects the local vault with encryption and uses a salted hash for master-password verification.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62356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CCDE0"/>
                </a:solidFill>
                <a:latin typeface="Aptos"/>
              </a:rPr>
              <a:t>PROJECT TAKEAWAY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897880"/>
            <a:ext cx="9326880" cy="269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chemeClr val="accent1">
                    <a:lumMod val="75000"/>
                  </a:schemeClr>
                </a:solidFill>
                <a:latin typeface="Aptos"/>
              </a:rPr>
              <a:t>Our project combines password generation, authentication, encrypted storage and credential management in one Python application.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2449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036" y="356616"/>
            <a:ext cx="4754880" cy="61242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118872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EAF1FB"/>
          </a:solidFill>
          <a:ln/>
        </p:spPr>
      </p:sp>
      <p:sp>
        <p:nvSpPr>
          <p:cNvPr id="5" name="Shape 2"/>
          <p:cNvSpPr/>
          <p:nvPr/>
        </p:nvSpPr>
        <p:spPr>
          <a:xfrm>
            <a:off x="502920" y="1188720"/>
            <a:ext cx="54864" cy="658368"/>
          </a:xfrm>
          <a:prstGeom prst="rect">
            <a:avLst/>
          </a:prstGeom>
          <a:solidFill>
            <a:srgbClr val="1B4F9C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243584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1B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
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Abubakar Siddiq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Project Overview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8668512" y="1188720"/>
            <a:ext cx="3017520" cy="292608"/>
          </a:xfrm>
          <a:prstGeom prst="roundRect">
            <a:avLst>
              <a:gd name="adj" fmla="val 15625"/>
            </a:avLst>
          </a:prstGeom>
          <a:solidFill>
            <a:srgbClr val="1B4F9C"/>
          </a:solidFill>
          <a:ln/>
        </p:spPr>
      </p:sp>
      <p:sp>
        <p:nvSpPr>
          <p:cNvPr id="8" name="Text 5"/>
          <p:cNvSpPr/>
          <p:nvPr/>
        </p:nvSpPr>
        <p:spPr>
          <a:xfrm>
            <a:off x="8668512" y="118872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GETTING STARTED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2011680"/>
            <a:ext cx="11183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3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Password Manager?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502920" y="257860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average person juggles dozens of online accounts — email, banking, social media, college portals. Reusing simple passwords across them is one of the biggest security risks a person can take. A Password Manager securely stores and retrieves logins; a Password Generator creates strong, random passwords on demand. This project combines both into one lightweight Python app.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3383280"/>
            <a:ext cx="457200" cy="457200"/>
          </a:xfrm>
          <a:prstGeom prst="ellipse">
            <a:avLst/>
          </a:prstGeom>
          <a:solidFill>
            <a:srgbClr val="1B4F9C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61288" y="3319272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Weak, reused or written-down passwords lead to account takeovers and data breaches.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02920" y="4096512"/>
            <a:ext cx="457200" cy="457200"/>
          </a:xfrm>
          <a:prstGeom prst="ellipse">
            <a:avLst/>
          </a:prstGeom>
          <a:solidFill>
            <a:srgbClr val="1B4F9C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4096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61288" y="4032504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simple, offline Python tool that generates strong passwords and stores them safely.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02920" y="4809744"/>
            <a:ext cx="457200" cy="457200"/>
          </a:xfrm>
          <a:prstGeom prst="ellipse">
            <a:avLst/>
          </a:prstGeom>
          <a:solidFill>
            <a:srgbClr val="1B4F9C"/>
          </a:solidFill>
          <a:ln/>
        </p:spPr>
      </p:sp>
      <p:sp>
        <p:nvSpPr>
          <p:cNvPr id="18" name="Text 15"/>
          <p:cNvSpPr/>
          <p:nvPr/>
        </p:nvSpPr>
        <p:spPr>
          <a:xfrm>
            <a:off x="502920" y="4809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161288" y="4745736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Python?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like secrets, string, hashlib and cryptography make secure password handling quick to build.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Manager &amp; Generator using Python  |  Project Overview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02843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Abubakar Siddiq   ·   Slide 1 of 10</a:t>
            </a:r>
            <a:endParaRPr lang="en-US" sz="9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0F15086-4CCF-E5CB-01E8-B87AF9D6B713}"/>
              </a:ext>
            </a:extLst>
          </p:cNvPr>
          <p:cNvSpPr txBox="1"/>
          <p:nvPr/>
        </p:nvSpPr>
        <p:spPr>
          <a:xfrm>
            <a:off x="960120" y="833120"/>
            <a:ext cx="1200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Module :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2449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036" y="356616"/>
            <a:ext cx="4754880" cy="61242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118872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EAF1FB"/>
          </a:solidFill>
          <a:ln/>
        </p:spPr>
      </p:sp>
      <p:sp>
        <p:nvSpPr>
          <p:cNvPr id="5" name="Shape 2"/>
          <p:cNvSpPr/>
          <p:nvPr/>
        </p:nvSpPr>
        <p:spPr>
          <a:xfrm>
            <a:off x="502920" y="1188720"/>
            <a:ext cx="54864" cy="658368"/>
          </a:xfrm>
          <a:prstGeom prst="rect">
            <a:avLst/>
          </a:prstGeom>
          <a:solidFill>
            <a:srgbClr val="1B4F9C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243584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1B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
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Abubakar Siddiq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Project Overview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8668512" y="1188720"/>
            <a:ext cx="3017520" cy="292608"/>
          </a:xfrm>
          <a:prstGeom prst="roundRect">
            <a:avLst>
              <a:gd name="adj" fmla="val 15625"/>
            </a:avLst>
          </a:prstGeom>
          <a:solidFill>
            <a:srgbClr val="1B4F9C"/>
          </a:solidFill>
          <a:ln/>
        </p:spPr>
      </p:sp>
      <p:sp>
        <p:nvSpPr>
          <p:cNvPr id="8" name="Text 5"/>
          <p:cNvSpPr/>
          <p:nvPr/>
        </p:nvSpPr>
        <p:spPr>
          <a:xfrm>
            <a:off x="8668512" y="118872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OBJECTIVES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2011680"/>
            <a:ext cx="11183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3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 &amp; Scope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502920" y="257860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as a lightweight command-line utility that demonstrates core security principles in a beginner-friendly way — ideal as an academic mini-project.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3383280"/>
            <a:ext cx="457200" cy="457200"/>
          </a:xfrm>
          <a:prstGeom prst="ellipse">
            <a:avLst/>
          </a:prstGeom>
          <a:solidFill>
            <a:srgbClr val="1B4F9C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61288" y="3319272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random passwords of customizable length, mixing letters, digits and symbols.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02920" y="4096512"/>
            <a:ext cx="457200" cy="457200"/>
          </a:xfrm>
          <a:prstGeom prst="ellipse">
            <a:avLst/>
          </a:prstGeom>
          <a:solidFill>
            <a:srgbClr val="1B4F9C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4096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61288" y="4032504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each password against a website/app name in an encrypted local vault.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02920" y="4809744"/>
            <a:ext cx="457200" cy="457200"/>
          </a:xfrm>
          <a:prstGeom prst="ellipse">
            <a:avLst/>
          </a:prstGeom>
          <a:solidFill>
            <a:srgbClr val="1B4F9C"/>
          </a:solidFill>
          <a:ln/>
        </p:spPr>
      </p:sp>
      <p:sp>
        <p:nvSpPr>
          <p:cNvPr id="18" name="Text 15"/>
          <p:cNvSpPr/>
          <p:nvPr/>
        </p:nvSpPr>
        <p:spPr>
          <a:xfrm>
            <a:off x="502920" y="4809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161288" y="4745736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&amp; Manage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update, copy or delete credentials — never exposed in plain text.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02920" y="5623560"/>
            <a:ext cx="11183112" cy="777240"/>
          </a:xfrm>
          <a:prstGeom prst="roundRect">
            <a:avLst>
              <a:gd name="adj" fmla="val 7059"/>
            </a:avLst>
          </a:prstGeom>
          <a:solidFill>
            <a:srgbClr val="1B4F9C"/>
          </a:solidFill>
          <a:ln/>
        </p:spPr>
      </p:sp>
      <p:sp>
        <p:nvSpPr>
          <p:cNvPr id="21" name="Text 18"/>
          <p:cNvSpPr/>
          <p:nvPr/>
        </p:nvSpPr>
        <p:spPr>
          <a:xfrm>
            <a:off x="777240" y="5696712"/>
            <a:ext cx="10634472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chain is only as strong as its weakest link — in cybersecurity, that link is often a weak password.”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Manager &amp; Generator using Python  |  Project Overview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02843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Abubakar Siddiq   ·   Slide 2 of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2B0A7A-FD20-316E-6D92-2B09ABA21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883" y="773916"/>
            <a:ext cx="5912154" cy="57978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0E2BCE2-7D5E-A6A1-41C9-F385D283DE7D}"/>
              </a:ext>
            </a:extLst>
          </p:cNvPr>
          <p:cNvSpPr txBox="1"/>
          <p:nvPr/>
        </p:nvSpPr>
        <p:spPr>
          <a:xfrm>
            <a:off x="914883" y="236230"/>
            <a:ext cx="17908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/>
              <a:t>Module : 1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178918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2449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036" y="356616"/>
            <a:ext cx="4754880" cy="61242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118872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EFF7E9"/>
          </a:solidFill>
          <a:ln/>
        </p:spPr>
      </p:sp>
      <p:sp>
        <p:nvSpPr>
          <p:cNvPr id="5" name="Shape 2"/>
          <p:cNvSpPr/>
          <p:nvPr/>
        </p:nvSpPr>
        <p:spPr>
          <a:xfrm>
            <a:off x="502920" y="1188720"/>
            <a:ext cx="54864" cy="658368"/>
          </a:xfrm>
          <a:prstGeom prst="rect">
            <a:avLst/>
          </a:prstGeom>
          <a:solidFill>
            <a:srgbClr val="5FA637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243584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5FA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
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Kavin Raj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Libraries Used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8668512" y="1188720"/>
            <a:ext cx="3017520" cy="292608"/>
          </a:xfrm>
          <a:prstGeom prst="roundRect">
            <a:avLst>
              <a:gd name="adj" fmla="val 15625"/>
            </a:avLst>
          </a:prstGeom>
          <a:solidFill>
            <a:srgbClr val="5FA637"/>
          </a:solidFill>
          <a:ln/>
        </p:spPr>
      </p:sp>
      <p:sp>
        <p:nvSpPr>
          <p:cNvPr id="8" name="Text 5"/>
          <p:cNvSpPr/>
          <p:nvPr/>
        </p:nvSpPr>
        <p:spPr>
          <a:xfrm>
            <a:off x="8668512" y="118872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ARCHITECTURE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2011680"/>
            <a:ext cx="11183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3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System is Structured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502920" y="257860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follows a clean, modular architecture — generating, encrypting, storing and retrieving passwords each live in their own function, keeping the codebase readable and easy to extend.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3383280"/>
            <a:ext cx="457200" cy="457200"/>
          </a:xfrm>
          <a:prstGeom prst="ellipse">
            <a:avLst/>
          </a:prstGeom>
          <a:solidFill>
            <a:srgbClr val="5FA637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61288" y="3319272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user commands: generate, save, search, or view saved entries.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02920" y="4096512"/>
            <a:ext cx="457200" cy="457200"/>
          </a:xfrm>
          <a:prstGeom prst="ellipse">
            <a:avLst/>
          </a:prstGeom>
          <a:solidFill>
            <a:srgbClr val="5FA637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4096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61288" y="4032504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Layer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generator engine builds random strings; the security engine hashes/encrypts data.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02920" y="4809744"/>
            <a:ext cx="457200" cy="457200"/>
          </a:xfrm>
          <a:prstGeom prst="ellipse">
            <a:avLst/>
          </a:prstGeom>
          <a:solidFill>
            <a:srgbClr val="5FA637"/>
          </a:solidFill>
          <a:ln/>
        </p:spPr>
      </p:sp>
      <p:sp>
        <p:nvSpPr>
          <p:cNvPr id="18" name="Text 15"/>
          <p:cNvSpPr/>
          <p:nvPr/>
        </p:nvSpPr>
        <p:spPr>
          <a:xfrm>
            <a:off x="502920" y="4809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161288" y="4745736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Access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encrypted local file holds the vault, gate-kept by one master password.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Manager &amp; Generator using Python  |  Project Overview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02843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Kavin Raj   ·   Slide 3 of 10</a:t>
            </a:r>
            <a:endParaRPr lang="en-US" sz="9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26B0848-3AE4-D89B-8700-FA72BC4E4DBE}"/>
              </a:ext>
            </a:extLst>
          </p:cNvPr>
          <p:cNvSpPr txBox="1"/>
          <p:nvPr/>
        </p:nvSpPr>
        <p:spPr>
          <a:xfrm>
            <a:off x="672084" y="807747"/>
            <a:ext cx="1200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Module :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2449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036" y="356616"/>
            <a:ext cx="4754880" cy="61242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118872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EFF7E9"/>
          </a:solidFill>
          <a:ln/>
        </p:spPr>
      </p:sp>
      <p:sp>
        <p:nvSpPr>
          <p:cNvPr id="5" name="Shape 2"/>
          <p:cNvSpPr/>
          <p:nvPr/>
        </p:nvSpPr>
        <p:spPr>
          <a:xfrm>
            <a:off x="502920" y="1188720"/>
            <a:ext cx="54864" cy="658368"/>
          </a:xfrm>
          <a:prstGeom prst="rect">
            <a:avLst/>
          </a:prstGeom>
          <a:solidFill>
            <a:srgbClr val="5FA637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243584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5FA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
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Kavin Raj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Libraries Used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8668512" y="1188720"/>
            <a:ext cx="3017520" cy="292608"/>
          </a:xfrm>
          <a:prstGeom prst="roundRect">
            <a:avLst>
              <a:gd name="adj" fmla="val 15625"/>
            </a:avLst>
          </a:prstGeom>
          <a:solidFill>
            <a:srgbClr val="5FA637"/>
          </a:solidFill>
          <a:ln/>
        </p:spPr>
      </p:sp>
      <p:sp>
        <p:nvSpPr>
          <p:cNvPr id="8" name="Text 5"/>
          <p:cNvSpPr/>
          <p:nvPr/>
        </p:nvSpPr>
        <p:spPr>
          <a:xfrm>
            <a:off x="8668512" y="118872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TOOLKIT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2011680"/>
            <a:ext cx="11183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3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Libraries Powering the Project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502920" y="257860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rich standard library, supplemented by a few well-tested cryptography packages, does almost all the heavy lifting.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3383280"/>
            <a:ext cx="457200" cy="457200"/>
          </a:xfrm>
          <a:prstGeom prst="ellipse">
            <a:avLst/>
          </a:prstGeom>
          <a:solidFill>
            <a:srgbClr val="5FA637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61288" y="3319272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Cryptographically strong randomness — safer than the plain random module.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02920" y="4096512"/>
            <a:ext cx="457200" cy="457200"/>
          </a:xfrm>
          <a:prstGeom prst="ellipse">
            <a:avLst/>
          </a:prstGeom>
          <a:solidFill>
            <a:srgbClr val="5FA637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4096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61288" y="4032504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/ hashlib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sets for passwords, plus one-way hashing to verify the master password.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02920" y="4809744"/>
            <a:ext cx="457200" cy="457200"/>
          </a:xfrm>
          <a:prstGeom prst="ellipse">
            <a:avLst/>
          </a:prstGeom>
          <a:solidFill>
            <a:srgbClr val="5FA637"/>
          </a:solidFill>
          <a:ln/>
        </p:spPr>
      </p:sp>
      <p:sp>
        <p:nvSpPr>
          <p:cNvPr id="18" name="Text 15"/>
          <p:cNvSpPr/>
          <p:nvPr/>
        </p:nvSpPr>
        <p:spPr>
          <a:xfrm>
            <a:off x="502920" y="4809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161288" y="4745736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 (Fernet)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encryption that locks every stored password inside the vault file.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02920" y="5623560"/>
            <a:ext cx="11183112" cy="777240"/>
          </a:xfrm>
          <a:prstGeom prst="roundRect">
            <a:avLst>
              <a:gd name="adj" fmla="val 7059"/>
            </a:avLst>
          </a:prstGeom>
          <a:solidFill>
            <a:srgbClr val="5FA637"/>
          </a:solidFill>
          <a:ln/>
        </p:spPr>
      </p:sp>
      <p:sp>
        <p:nvSpPr>
          <p:cNvPr id="21" name="Text 18"/>
          <p:cNvSpPr/>
          <p:nvPr/>
        </p:nvSpPr>
        <p:spPr>
          <a:xfrm>
            <a:off x="777240" y="5696712"/>
            <a:ext cx="10634472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“Good architecture separates what changes often from what should never change — security logic stays constant, the interface can evolve.”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Manager &amp; Generator using Python  |  Project Overview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02843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Kavin Raj   ·   Slide 4 of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5AD4E5-B3F3-2B85-2251-F6E173D1D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644" y="1116841"/>
            <a:ext cx="6648792" cy="48071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5573BE3-B0BF-346D-FC0E-88BCB8038B30}"/>
              </a:ext>
            </a:extLst>
          </p:cNvPr>
          <p:cNvSpPr txBox="1"/>
          <p:nvPr/>
        </p:nvSpPr>
        <p:spPr>
          <a:xfrm>
            <a:off x="424644" y="472297"/>
            <a:ext cx="15584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Module : 2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63504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2449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036" y="356616"/>
            <a:ext cx="4754880" cy="61242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118872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FDEEE3"/>
          </a:solidFill>
          <a:ln/>
        </p:spPr>
      </p:sp>
      <p:sp>
        <p:nvSpPr>
          <p:cNvPr id="5" name="Shape 2"/>
          <p:cNvSpPr/>
          <p:nvPr/>
        </p:nvSpPr>
        <p:spPr>
          <a:xfrm>
            <a:off x="502920" y="1188720"/>
            <a:ext cx="54864" cy="658368"/>
          </a:xfrm>
          <a:prstGeom prst="rect">
            <a:avLst/>
          </a:prstGeom>
          <a:solidFill>
            <a:srgbClr val="E8752C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243584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E87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
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Immanuel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Password Generator Module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8668512" y="1188720"/>
            <a:ext cx="3017520" cy="292608"/>
          </a:xfrm>
          <a:prstGeom prst="roundRect">
            <a:avLst>
              <a:gd name="adj" fmla="val 15625"/>
            </a:avLst>
          </a:prstGeom>
          <a:solidFill>
            <a:srgbClr val="E8752C"/>
          </a:solidFill>
          <a:ln/>
        </p:spPr>
      </p:sp>
      <p:sp>
        <p:nvSpPr>
          <p:cNvPr id="8" name="Text 5"/>
          <p:cNvSpPr/>
          <p:nvPr/>
        </p:nvSpPr>
        <p:spPr>
          <a:xfrm>
            <a:off x="8668512" y="118872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CORE MODULE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2011680"/>
            <a:ext cx="11183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3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the Password Generator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502920" y="257860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generator is the heart of the tool — produce a password that is long, unpredictable and resistant to brute-force or dictionary attacks.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3383280"/>
            <a:ext cx="457200" cy="457200"/>
          </a:xfrm>
          <a:prstGeom prst="ellipse">
            <a:avLst/>
          </a:prstGeom>
          <a:solidFill>
            <a:srgbClr val="E8752C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61288" y="3319272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Pools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uppercase, lowercase, digits and symbols into one selectable pool.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02920" y="4096512"/>
            <a:ext cx="457200" cy="457200"/>
          </a:xfrm>
          <a:prstGeom prst="ellipse">
            <a:avLst/>
          </a:prstGeom>
          <a:solidFill>
            <a:srgbClr val="E8752C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4096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61288" y="4032504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Length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chooses length (typically 8–32 characters); longer = exponentially safer.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02920" y="4809744"/>
            <a:ext cx="457200" cy="457200"/>
          </a:xfrm>
          <a:prstGeom prst="ellipse">
            <a:avLst/>
          </a:prstGeom>
          <a:solidFill>
            <a:srgbClr val="E8752C"/>
          </a:solidFill>
          <a:ln/>
        </p:spPr>
      </p:sp>
      <p:sp>
        <p:nvSpPr>
          <p:cNvPr id="18" name="Text 15"/>
          <p:cNvSpPr/>
          <p:nvPr/>
        </p:nvSpPr>
        <p:spPr>
          <a:xfrm>
            <a:off x="502920" y="4809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161288" y="4745736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Randomness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secrets.choice() instead of random.choice() — output can't be predicted.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Manager &amp; Generator using Python  |  Project Overview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02843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Immanuel   ·   Slide 5 of 10</a:t>
            </a:r>
            <a:endParaRPr lang="en-US" sz="9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AE9725-3DBE-5F75-226F-9A35E01888DA}"/>
              </a:ext>
            </a:extLst>
          </p:cNvPr>
          <p:cNvSpPr txBox="1"/>
          <p:nvPr/>
        </p:nvSpPr>
        <p:spPr>
          <a:xfrm>
            <a:off x="504952" y="798630"/>
            <a:ext cx="1200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Module :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2449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036" y="356616"/>
            <a:ext cx="4754880" cy="61242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118872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FDEEE3"/>
          </a:solidFill>
          <a:ln/>
        </p:spPr>
      </p:sp>
      <p:sp>
        <p:nvSpPr>
          <p:cNvPr id="5" name="Shape 2"/>
          <p:cNvSpPr/>
          <p:nvPr/>
        </p:nvSpPr>
        <p:spPr>
          <a:xfrm>
            <a:off x="502920" y="1188720"/>
            <a:ext cx="54864" cy="658368"/>
          </a:xfrm>
          <a:prstGeom prst="rect">
            <a:avLst/>
          </a:prstGeom>
          <a:solidFill>
            <a:srgbClr val="E8752C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243584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E87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
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Immanuel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Password Generator Module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8668512" y="1188720"/>
            <a:ext cx="3017520" cy="292608"/>
          </a:xfrm>
          <a:prstGeom prst="roundRect">
            <a:avLst>
              <a:gd name="adj" fmla="val 15625"/>
            </a:avLst>
          </a:prstGeom>
          <a:solidFill>
            <a:srgbClr val="E8752C"/>
          </a:solidFill>
          <a:ln/>
        </p:spPr>
      </p:sp>
      <p:sp>
        <p:nvSpPr>
          <p:cNvPr id="8" name="Text 5"/>
          <p:cNvSpPr/>
          <p:nvPr/>
        </p:nvSpPr>
        <p:spPr>
          <a:xfrm>
            <a:off x="8668512" y="118872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BEHIND THE CODE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2011680"/>
            <a:ext cx="11183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3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Generator Workflow, Step by Step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502920" y="257860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621231" y="3639312"/>
            <a:ext cx="8946490" cy="0"/>
          </a:xfrm>
          <a:prstGeom prst="line">
            <a:avLst/>
          </a:prstGeom>
          <a:noFill/>
          <a:ln w="25400">
            <a:solidFill>
              <a:srgbClr val="E8752C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1365199" y="3383280"/>
            <a:ext cx="512064" cy="512064"/>
          </a:xfrm>
          <a:prstGeom prst="ellipse">
            <a:avLst/>
          </a:prstGeom>
          <a:solidFill>
            <a:srgbClr val="E8752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365199" y="33832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48640" y="4005072"/>
            <a:ext cx="214518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Preferences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8640" y="4315968"/>
            <a:ext cx="214518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&amp; character types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601822" y="3383280"/>
            <a:ext cx="512064" cy="512064"/>
          </a:xfrm>
          <a:prstGeom prst="ellipse">
            <a:avLst/>
          </a:prstGeom>
          <a:solidFill>
            <a:srgbClr val="E8752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01822" y="33832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2785262" y="4005072"/>
            <a:ext cx="214518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Pool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785262" y="4315968"/>
            <a:ext cx="214518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chosen character sets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838444" y="3383280"/>
            <a:ext cx="512064" cy="512064"/>
          </a:xfrm>
          <a:prstGeom prst="ellipse">
            <a:avLst/>
          </a:prstGeom>
          <a:solidFill>
            <a:srgbClr val="E8752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38444" y="33832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021885" y="4005072"/>
            <a:ext cx="214518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021885" y="4315968"/>
            <a:ext cx="214518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chars until length is met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075066" y="3383280"/>
            <a:ext cx="512064" cy="512064"/>
          </a:xfrm>
          <a:prstGeom prst="ellipse">
            <a:avLst/>
          </a:prstGeom>
          <a:solidFill>
            <a:srgbClr val="E8752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075066" y="33832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258507" y="4005072"/>
            <a:ext cx="214518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258507" y="4315968"/>
            <a:ext cx="214518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complexity rules are met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311689" y="3383280"/>
            <a:ext cx="512064" cy="512064"/>
          </a:xfrm>
          <a:prstGeom prst="ellipse">
            <a:avLst/>
          </a:prstGeom>
          <a:solidFill>
            <a:srgbClr val="E8752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311689" y="33832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9495130" y="4005072"/>
            <a:ext cx="214518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9495130" y="4315968"/>
            <a:ext cx="214518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password, offer to save it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02920" y="5623560"/>
            <a:ext cx="11183112" cy="777240"/>
          </a:xfrm>
          <a:prstGeom prst="roundRect">
            <a:avLst>
              <a:gd name="adj" fmla="val 7059"/>
            </a:avLst>
          </a:prstGeom>
          <a:solidFill>
            <a:srgbClr val="E8752C"/>
          </a:solidFill>
          <a:ln/>
        </p:spPr>
      </p:sp>
      <p:sp>
        <p:nvSpPr>
          <p:cNvPr id="33" name="Text 30"/>
          <p:cNvSpPr/>
          <p:nvPr/>
        </p:nvSpPr>
        <p:spPr>
          <a:xfrm>
            <a:off x="777240" y="5696712"/>
            <a:ext cx="10634472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“Randomness is the currency of security — the harder a password is to predict, the more valuable it is.”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Manager &amp; Generator using Python  |  Project Overview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802843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Immanuel   ·   Slide 6 of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E66996-10AF-9AEC-1186-9C647287F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406" y="1290222"/>
            <a:ext cx="9661840" cy="50191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036B044-2AAD-E517-3154-DB08C3ADD2C2}"/>
              </a:ext>
            </a:extLst>
          </p:cNvPr>
          <p:cNvSpPr txBox="1"/>
          <p:nvPr/>
        </p:nvSpPr>
        <p:spPr>
          <a:xfrm>
            <a:off x="873760" y="767002"/>
            <a:ext cx="17908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/>
              <a:t>Module : 3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280923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2449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036" y="356616"/>
            <a:ext cx="4754880" cy="61242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118872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EAF1FB"/>
          </a:solidFill>
          <a:ln/>
        </p:spPr>
      </p:sp>
      <p:sp>
        <p:nvSpPr>
          <p:cNvPr id="5" name="Shape 2"/>
          <p:cNvSpPr/>
          <p:nvPr/>
        </p:nvSpPr>
        <p:spPr>
          <a:xfrm>
            <a:off x="502920" y="1188720"/>
            <a:ext cx="54864" cy="658368"/>
          </a:xfrm>
          <a:prstGeom prst="rect">
            <a:avLst/>
          </a:prstGeom>
          <a:solidFill>
            <a:srgbClr val="1B4F9C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243584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1B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
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Jomin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Storage &amp; Encryption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8668512" y="1188720"/>
            <a:ext cx="3017520" cy="292608"/>
          </a:xfrm>
          <a:prstGeom prst="roundRect">
            <a:avLst>
              <a:gd name="adj" fmla="val 15625"/>
            </a:avLst>
          </a:prstGeom>
          <a:solidFill>
            <a:srgbClr val="1B4F9C"/>
          </a:solidFill>
          <a:ln/>
        </p:spPr>
      </p:sp>
      <p:sp>
        <p:nvSpPr>
          <p:cNvPr id="8" name="Text 5"/>
          <p:cNvSpPr/>
          <p:nvPr/>
        </p:nvSpPr>
        <p:spPr>
          <a:xfrm>
            <a:off x="8668512" y="118872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DATA SECURITY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2011680"/>
            <a:ext cx="11183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3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Keeping Stored Passwords Safe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502920" y="257860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a strong password is only half the job — it must be stored so nobody, not even someone with file-system access, can read it directly.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3383280"/>
            <a:ext cx="457200" cy="457200"/>
          </a:xfrm>
          <a:prstGeom prst="ellipse">
            <a:avLst/>
          </a:prstGeom>
          <a:solidFill>
            <a:srgbClr val="1B4F9C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61288" y="3319272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at Rest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saved password is encrypted (Fernet/AES) before it touches the disk.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02920" y="4096512"/>
            <a:ext cx="457200" cy="457200"/>
          </a:xfrm>
          <a:prstGeom prst="ellipse">
            <a:avLst/>
          </a:prstGeom>
          <a:solidFill>
            <a:srgbClr val="1B4F9C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4096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61288" y="4032504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Key Derivation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master password is never stored — only its salted hash, used to derive the key.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02920" y="4809744"/>
            <a:ext cx="457200" cy="457200"/>
          </a:xfrm>
          <a:prstGeom prst="ellipse">
            <a:avLst/>
          </a:prstGeom>
          <a:solidFill>
            <a:srgbClr val="1B4F9C"/>
          </a:solidFill>
          <a:ln/>
        </p:spPr>
      </p:sp>
      <p:sp>
        <p:nvSpPr>
          <p:cNvPr id="18" name="Text 15"/>
          <p:cNvSpPr/>
          <p:nvPr/>
        </p:nvSpPr>
        <p:spPr>
          <a:xfrm>
            <a:off x="502920" y="4809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161288" y="4745736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Plain-Text Rule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saved password is ever written to disk in readable form.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Manager &amp; Generator using Python  |  Project Overview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02843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Jomin   ·   Slide 7 of 10</a:t>
            </a:r>
            <a:endParaRPr lang="en-US" sz="9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818217-0915-36E7-92DE-065A35ED85B8}"/>
              </a:ext>
            </a:extLst>
          </p:cNvPr>
          <p:cNvSpPr txBox="1"/>
          <p:nvPr/>
        </p:nvSpPr>
        <p:spPr>
          <a:xfrm>
            <a:off x="557784" y="741680"/>
            <a:ext cx="1200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Module : 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2449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036" y="356616"/>
            <a:ext cx="4754880" cy="61242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118872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EAF1FB"/>
          </a:solidFill>
          <a:ln/>
        </p:spPr>
      </p:sp>
      <p:sp>
        <p:nvSpPr>
          <p:cNvPr id="5" name="Shape 2"/>
          <p:cNvSpPr/>
          <p:nvPr/>
        </p:nvSpPr>
        <p:spPr>
          <a:xfrm>
            <a:off x="502920" y="1188720"/>
            <a:ext cx="54864" cy="658368"/>
          </a:xfrm>
          <a:prstGeom prst="rect">
            <a:avLst/>
          </a:prstGeom>
          <a:solidFill>
            <a:srgbClr val="1B4F9C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243584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1B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
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Jomin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Storage &amp; Encryption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8668512" y="1188720"/>
            <a:ext cx="3017520" cy="292608"/>
          </a:xfrm>
          <a:prstGeom prst="roundRect">
            <a:avLst>
              <a:gd name="adj" fmla="val 15625"/>
            </a:avLst>
          </a:prstGeom>
          <a:solidFill>
            <a:srgbClr val="1B4F9C"/>
          </a:solidFill>
          <a:ln/>
        </p:spPr>
      </p:sp>
      <p:sp>
        <p:nvSpPr>
          <p:cNvPr id="8" name="Text 5"/>
          <p:cNvSpPr/>
          <p:nvPr/>
        </p:nvSpPr>
        <p:spPr>
          <a:xfrm>
            <a:off x="8668512" y="118872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ACCESS CONTROL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2011680"/>
            <a:ext cx="11183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3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&amp; Data Integrity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502920" y="257860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encryption, the system layers in checks so only the rightful user can unlock and use the vault.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3383280"/>
            <a:ext cx="457200" cy="457200"/>
          </a:xfrm>
          <a:prstGeom prst="ellipse">
            <a:avLst/>
          </a:prstGeom>
          <a:solidFill>
            <a:srgbClr val="1B4F9C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61288" y="3319272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Password Gate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vault only decrypts after the master password is verified against its hash.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02920" y="4096512"/>
            <a:ext cx="457200" cy="457200"/>
          </a:xfrm>
          <a:prstGeom prst="ellipse">
            <a:avLst/>
          </a:prstGeom>
          <a:solidFill>
            <a:srgbClr val="1B4F9C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4096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61288" y="4032504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Salting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unique random salt means identical passwords never produce identical hashes.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02920" y="4809744"/>
            <a:ext cx="457200" cy="457200"/>
          </a:xfrm>
          <a:prstGeom prst="ellipse">
            <a:avLst/>
          </a:prstGeom>
          <a:solidFill>
            <a:srgbClr val="1B4F9C"/>
          </a:solidFill>
          <a:ln/>
        </p:spPr>
      </p:sp>
      <p:sp>
        <p:nvSpPr>
          <p:cNvPr id="18" name="Text 15"/>
          <p:cNvSpPr/>
          <p:nvPr/>
        </p:nvSpPr>
        <p:spPr>
          <a:xfrm>
            <a:off x="502920" y="4809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161288" y="4745736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Friendly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encrypted vault file can be safely backed up — unreadable without the key.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02920" y="5623560"/>
            <a:ext cx="11183112" cy="777240"/>
          </a:xfrm>
          <a:prstGeom prst="roundRect">
            <a:avLst>
              <a:gd name="adj" fmla="val 7059"/>
            </a:avLst>
          </a:prstGeom>
          <a:solidFill>
            <a:srgbClr val="1B4F9C"/>
          </a:solidFill>
          <a:ln/>
        </p:spPr>
      </p:sp>
      <p:sp>
        <p:nvSpPr>
          <p:cNvPr id="21" name="Text 18"/>
          <p:cNvSpPr/>
          <p:nvPr/>
        </p:nvSpPr>
        <p:spPr>
          <a:xfrm>
            <a:off x="777240" y="5696712"/>
            <a:ext cx="10634472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“Encryption turns your data into a locked box; the master password is the only key that fits.”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Manager &amp; Generator using Python  |  Project Overview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02843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Jomin   ·   Slide 8 of 10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F53EDB-8168-358C-281D-78C5895C3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351" y="1678793"/>
            <a:ext cx="6511409" cy="45023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D175FB8-63C3-18C6-27CE-16BA287E8711}"/>
              </a:ext>
            </a:extLst>
          </p:cNvPr>
          <p:cNvSpPr txBox="1"/>
          <p:nvPr/>
        </p:nvSpPr>
        <p:spPr>
          <a:xfrm>
            <a:off x="843280" y="955040"/>
            <a:ext cx="17908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/>
              <a:t>Module : 4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2125180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2449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036" y="356616"/>
            <a:ext cx="4754880" cy="61242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118872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EFF7E9"/>
          </a:solidFill>
          <a:ln/>
        </p:spPr>
      </p:sp>
      <p:sp>
        <p:nvSpPr>
          <p:cNvPr id="5" name="Shape 2"/>
          <p:cNvSpPr/>
          <p:nvPr/>
        </p:nvSpPr>
        <p:spPr>
          <a:xfrm>
            <a:off x="502920" y="1188720"/>
            <a:ext cx="54864" cy="658368"/>
          </a:xfrm>
          <a:prstGeom prst="rect">
            <a:avLst/>
          </a:prstGeom>
          <a:solidFill>
            <a:srgbClr val="5FA637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243584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5FA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
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Haneef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Features, Applications &amp; Conclusion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8668512" y="1188720"/>
            <a:ext cx="3017520" cy="292608"/>
          </a:xfrm>
          <a:prstGeom prst="roundRect">
            <a:avLst>
              <a:gd name="adj" fmla="val 15625"/>
            </a:avLst>
          </a:prstGeom>
          <a:solidFill>
            <a:srgbClr val="5FA637"/>
          </a:solidFill>
          <a:ln/>
        </p:spPr>
      </p:sp>
      <p:sp>
        <p:nvSpPr>
          <p:cNvPr id="8" name="Text 5"/>
          <p:cNvSpPr/>
          <p:nvPr/>
        </p:nvSpPr>
        <p:spPr>
          <a:xfrm>
            <a:off x="8668512" y="118872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HIGHLIGHTS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2011680"/>
            <a:ext cx="11183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3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&amp; Real-World Applications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502920" y="257860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everything together, the finished tool offers a compact but genuinely useful feature set with clear real-world value.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3383280"/>
            <a:ext cx="457200" cy="457200"/>
          </a:xfrm>
          <a:prstGeom prst="ellipse">
            <a:avLst/>
          </a:prstGeom>
          <a:solidFill>
            <a:srgbClr val="5FA637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61288" y="3319272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Generation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create strong, unique passwords for any new account.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02920" y="4096512"/>
            <a:ext cx="457200" cy="457200"/>
          </a:xfrm>
          <a:prstGeom prst="ellipse">
            <a:avLst/>
          </a:prstGeom>
          <a:solidFill>
            <a:srgbClr val="5FA637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4096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61288" y="4032504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Vault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and organize credentials for every website or app in one place.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02920" y="4809744"/>
            <a:ext cx="457200" cy="457200"/>
          </a:xfrm>
          <a:prstGeom prst="ellipse">
            <a:avLst/>
          </a:prstGeom>
          <a:solidFill>
            <a:srgbClr val="5FA637"/>
          </a:solidFill>
          <a:ln/>
        </p:spPr>
      </p:sp>
      <p:sp>
        <p:nvSpPr>
          <p:cNvPr id="18" name="Text 15"/>
          <p:cNvSpPr/>
          <p:nvPr/>
        </p:nvSpPr>
        <p:spPr>
          <a:xfrm>
            <a:off x="502920" y="4809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161288" y="4745736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&amp; Team Use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 individuals, small teams, or as a security-fundamentals project.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Manager &amp; Generator using Python  |  Project Overview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02843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Haneef   ·   Slide 9 of 10</a:t>
            </a:r>
            <a:endParaRPr lang="en-US" sz="9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DE11BE-C427-7DB1-7429-CA8B220D7962}"/>
              </a:ext>
            </a:extLst>
          </p:cNvPr>
          <p:cNvSpPr txBox="1"/>
          <p:nvPr/>
        </p:nvSpPr>
        <p:spPr>
          <a:xfrm>
            <a:off x="557784" y="721360"/>
            <a:ext cx="1200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Module : 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3F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2449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036" y="356616"/>
            <a:ext cx="4754880" cy="61242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118872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2C5586"/>
          </a:solidFill>
          <a:ln/>
        </p:spPr>
      </p:sp>
      <p:sp>
        <p:nvSpPr>
          <p:cNvPr id="5" name="Shape 2"/>
          <p:cNvSpPr/>
          <p:nvPr/>
        </p:nvSpPr>
        <p:spPr>
          <a:xfrm>
            <a:off x="502920" y="1188720"/>
            <a:ext cx="54864" cy="658368"/>
          </a:xfrm>
          <a:prstGeom prst="rect">
            <a:avLst/>
          </a:prstGeom>
          <a:solidFill>
            <a:srgbClr val="5FA637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243584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5FA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
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3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Haneef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Features, Applications &amp; Conclusion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8668512" y="1188720"/>
            <a:ext cx="3017520" cy="292608"/>
          </a:xfrm>
          <a:prstGeom prst="roundRect">
            <a:avLst>
              <a:gd name="adj" fmla="val 15625"/>
            </a:avLst>
          </a:prstGeom>
          <a:solidFill>
            <a:srgbClr val="5FA637"/>
          </a:solidFill>
          <a:ln/>
        </p:spPr>
      </p:sp>
      <p:sp>
        <p:nvSpPr>
          <p:cNvPr id="8" name="Text 5"/>
          <p:cNvSpPr/>
          <p:nvPr/>
        </p:nvSpPr>
        <p:spPr>
          <a:xfrm>
            <a:off x="8668512" y="118872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WRAP-UP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2011680"/>
            <a:ext cx="11183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&amp; Conclusion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502920" y="257860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shows how a handful of Python's standard and cryptography libraries can solve a genuine, everyday security problem.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3383280"/>
            <a:ext cx="457200" cy="457200"/>
          </a:xfrm>
          <a:prstGeom prst="ellipse">
            <a:avLst/>
          </a:prstGeom>
          <a:solidFill>
            <a:srgbClr val="5FA637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61288" y="3319272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Security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7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weak, reused passwords by making strong ones effortless to create.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02920" y="4096512"/>
            <a:ext cx="457200" cy="457200"/>
          </a:xfrm>
          <a:prstGeom prst="ellipse">
            <a:avLst/>
          </a:prstGeom>
          <a:solidFill>
            <a:srgbClr val="5FA637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4096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61288" y="4032504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Saving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7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manually inventing or recalling dozens of passwords.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02920" y="4809744"/>
            <a:ext cx="457200" cy="457200"/>
          </a:xfrm>
          <a:prstGeom prst="ellipse">
            <a:avLst/>
          </a:prstGeom>
          <a:solidFill>
            <a:srgbClr val="5FA637"/>
          </a:solidFill>
          <a:ln/>
        </p:spPr>
      </p:sp>
      <p:sp>
        <p:nvSpPr>
          <p:cNvPr id="18" name="Text 15"/>
          <p:cNvSpPr/>
          <p:nvPr/>
        </p:nvSpPr>
        <p:spPr>
          <a:xfrm>
            <a:off x="502920" y="4809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161288" y="4745736"/>
            <a:ext cx="105247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 Design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7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a GUI, browser integration, or cloud sync in future iterations.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02920" y="5623560"/>
            <a:ext cx="11183112" cy="777240"/>
          </a:xfrm>
          <a:prstGeom prst="roundRect">
            <a:avLst>
              <a:gd name="adj" fmla="val 7059"/>
            </a:avLst>
          </a:prstGeom>
          <a:solidFill>
            <a:srgbClr val="2C5586"/>
          </a:solidFill>
          <a:ln/>
        </p:spPr>
      </p:sp>
      <p:sp>
        <p:nvSpPr>
          <p:cNvPr id="21" name="Text 18"/>
          <p:cNvSpPr/>
          <p:nvPr/>
        </p:nvSpPr>
        <p:spPr>
          <a:xfrm>
            <a:off x="777240" y="5696712"/>
            <a:ext cx="10634472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“Security is not a product, it is a habit — this project is a small step toward building that habit in code.”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Manager &amp; Generator using Python  |  Project Overview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02843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Haneef   ·   Slide 10 of 10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06389E-D8FA-1445-DE5C-FF5044A846A6}"/>
              </a:ext>
            </a:extLst>
          </p:cNvPr>
          <p:cNvSpPr txBox="1"/>
          <p:nvPr/>
        </p:nvSpPr>
        <p:spPr>
          <a:xfrm>
            <a:off x="711200" y="91440"/>
            <a:ext cx="9916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i="1" u="sng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Module 5: Demonstration/ Implementation:</a:t>
            </a:r>
            <a:endParaRPr lang="en-IN" b="1" i="1" u="sng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70AF97-5D9D-3B6E-E828-B0FB97E87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346" y="950453"/>
            <a:ext cx="5969307" cy="55057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535E86-AF6F-366B-052C-6D555B9D0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6560" y="1121911"/>
            <a:ext cx="5645440" cy="5162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4286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C526026-D5ED-3E09-45CB-45614FB78665}"/>
              </a:ext>
            </a:extLst>
          </p:cNvPr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E7EEF8"/>
          </a:solidFill>
          <a:ln/>
        </p:spPr>
      </p:sp>
      <p:pic>
        <p:nvPicPr>
          <p:cNvPr id="3" name="Image 0" descr="sse_logo.png">
            <a:extLst>
              <a:ext uri="{FF2B5EF4-FFF2-40B4-BE49-F238E27FC236}">
                <a16:creationId xmlns:a16="http://schemas.microsoft.com/office/drawing/2014/main" id="{D47C5A07-0BBB-A764-C2E1-F0766249D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74320"/>
            <a:ext cx="502920" cy="661843"/>
          </a:xfrm>
          <a:prstGeom prst="rect">
            <a:avLst/>
          </a:prstGeom>
        </p:spPr>
      </p:pic>
      <p:pic>
        <p:nvPicPr>
          <p:cNvPr id="4" name="Image 1" descr="saveetha_badge.png">
            <a:extLst>
              <a:ext uri="{FF2B5EF4-FFF2-40B4-BE49-F238E27FC236}">
                <a16:creationId xmlns:a16="http://schemas.microsoft.com/office/drawing/2014/main" id="{83CD548C-1AD2-3611-1047-8DF346FA6C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56032"/>
            <a:ext cx="685800" cy="685800"/>
          </a:xfrm>
          <a:prstGeom prst="rect">
            <a:avLst/>
          </a:prstGeom>
        </p:spPr>
      </p:pic>
      <p:sp>
        <p:nvSpPr>
          <p:cNvPr id="10" name="Shape 2">
            <a:extLst>
              <a:ext uri="{FF2B5EF4-FFF2-40B4-BE49-F238E27FC236}">
                <a16:creationId xmlns:a16="http://schemas.microsoft.com/office/drawing/2014/main" id="{51413C30-7F5B-4244-64B6-608A41A7FD6D}"/>
              </a:ext>
            </a:extLst>
          </p:cNvPr>
          <p:cNvSpPr/>
          <p:nvPr/>
        </p:nvSpPr>
        <p:spPr>
          <a:xfrm>
            <a:off x="6126480" y="1554480"/>
            <a:ext cx="3108960" cy="3108960"/>
          </a:xfrm>
          <a:prstGeom prst="ellipse">
            <a:avLst/>
          </a:prstGeom>
          <a:solidFill>
            <a:srgbClr val="E06B2B">
              <a:alpha val="85000"/>
            </a:srgbClr>
          </a:solidFill>
          <a:ln/>
        </p:spPr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A983D7A-75C3-03A8-6EE9-0ED61490DA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13" y="2700465"/>
            <a:ext cx="12162574" cy="1457070"/>
          </a:xfrm>
          <a:prstGeom prst="rect">
            <a:avLst/>
          </a:prstGeom>
        </p:spPr>
      </p:pic>
      <p:sp>
        <p:nvSpPr>
          <p:cNvPr id="13" name="Shape 1">
            <a:extLst>
              <a:ext uri="{FF2B5EF4-FFF2-40B4-BE49-F238E27FC236}">
                <a16:creationId xmlns:a16="http://schemas.microsoft.com/office/drawing/2014/main" id="{6FA88C68-90C4-2B74-29D0-F787206DCE23}"/>
              </a:ext>
            </a:extLst>
          </p:cNvPr>
          <p:cNvSpPr/>
          <p:nvPr/>
        </p:nvSpPr>
        <p:spPr>
          <a:xfrm>
            <a:off x="8869680" y="3566160"/>
            <a:ext cx="3840480" cy="3840480"/>
          </a:xfrm>
          <a:prstGeom prst="ellipse">
            <a:avLst/>
          </a:prstGeom>
          <a:solidFill>
            <a:srgbClr val="1F5FA8">
              <a:alpha val="22000"/>
            </a:srgbClr>
          </a:solidFill>
          <a:ln/>
        </p:spPr>
      </p:sp>
    </p:spTree>
    <p:extLst>
      <p:ext uri="{BB962C8B-B14F-4D97-AF65-F5344CB8AC3E}">
        <p14:creationId xmlns:p14="http://schemas.microsoft.com/office/powerpoint/2010/main" val="6257584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1450</Words>
  <Application>Microsoft Office PowerPoint</Application>
  <PresentationFormat>Widescreen</PresentationFormat>
  <Paragraphs>232</Paragraphs>
  <Slides>18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Password Manager &amp; Generator using Python - Project Overview</dc:title>
  <dc:subject>PptxGenJS Presentation</dc:subject>
  <dc:creator>Abubakar Siddiq, Kavin Raj, Immanuel, Jomin, Mohamed Haneef</dc:creator>
  <cp:lastModifiedBy>Mohamed Haneef</cp:lastModifiedBy>
  <cp:revision>5</cp:revision>
  <dcterms:created xsi:type="dcterms:W3CDTF">2026-08-18T04:36:45Z</dcterms:created>
  <dcterms:modified xsi:type="dcterms:W3CDTF">2026-09-07T04:02:31Z</dcterms:modified>
</cp:coreProperties>
</file>